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7"/>
  </p:notesMasterIdLst>
  <p:sldIdLst>
    <p:sldId id="580" r:id="rId3"/>
    <p:sldId id="581" r:id="rId4"/>
    <p:sldId id="592" r:id="rId5"/>
    <p:sldId id="588" r:id="rId6"/>
    <p:sldId id="593" r:id="rId7"/>
    <p:sldId id="591" r:id="rId8"/>
    <p:sldId id="583" r:id="rId9"/>
    <p:sldId id="585" r:id="rId10"/>
    <p:sldId id="584" r:id="rId11"/>
    <p:sldId id="586" r:id="rId12"/>
    <p:sldId id="589" r:id="rId13"/>
    <p:sldId id="590" r:id="rId14"/>
    <p:sldId id="594" r:id="rId15"/>
    <p:sldId id="587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BFEC"/>
    <a:srgbClr val="34A751"/>
    <a:srgbClr val="263570"/>
    <a:srgbClr val="4A9DE2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88" d="100"/>
          <a:sy n="88" d="100"/>
        </p:scale>
        <p:origin x="228" y="81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B2E5-270F-BD9A-0C7B-6035D109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BD884-6928-C9CB-24F3-10A9827F2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F8CDB-69DF-3F6F-6DA1-9CEBC375F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3256F-92AA-64B1-AAE1-9AC8F4B04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941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0419-5E43-7272-5002-2E56706C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19802-6293-E3AD-7B2E-835E06235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72DA0-440E-1AE8-09B5-127BA212C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A481-6FF1-00D7-FC3E-F120F4954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98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889FA-8439-5666-096F-5AD44556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07621-275F-986B-3917-A1B9C6295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F4B86-79FF-7450-218D-CB9F2EDA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A6F3-1DC2-53B7-BAAC-7C0B512DF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769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1C8F-D5A3-4EB1-822D-2E8B7A68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6F130-28C9-48F6-959B-B2D267238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2B854-0F4E-54FF-110B-5972524FC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A6E48-3298-81CB-33CA-0169945CF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2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16BE-754C-73E0-E3C5-FD864E9D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3D1B0-80F2-800D-C405-3B8EB239C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E32B0-F443-D603-6975-824C5F49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E6141-0BA9-C5E3-434C-DF30AF614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922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1D5A-644E-86B9-0BCE-A0830C31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71101-6A3D-D222-6F80-3EED9D8E9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7DEB6-DFCE-E4A6-0B05-37F1D243C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4B62E-7750-668B-0C42-125405E5E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3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C6657-8B58-E77F-9B6D-85966B763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FCAB7-C33D-605D-B318-D1F9C4738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D7666-7ADF-44D0-668F-BE7DE34E1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F5945-C2B6-65DE-9CEB-D05CFFB88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384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E028-718E-B142-0F8F-256077CD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5488A-242C-1874-6F12-DE923877A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39E3B-810E-0E3F-C534-4FF353BF7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05E4C-80D5-5811-16AF-22734F4A9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26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AC9A-59C9-E9E4-28DB-1F7C9255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3184E-081A-0787-2156-84D1F1325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F13D4-3AA0-DB2D-3F1F-2D7C26CD0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525FC-4E4B-3EF7-DB1F-4FFB1649B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528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C82A-ABD9-031F-C1BA-F572232D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A8EE8-B45E-7131-46B4-D1D284D5D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59621-AC47-6631-B228-BD1FA2286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0396F-1362-8365-5434-E0E24E79C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870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DEC1-EAD4-8C0A-1ED6-320300C0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C3BD1-5B18-A598-E938-8B358EFFC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3AA3B-478E-26FC-B19B-D472F6AFA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4F1AE-B7DE-E2F0-CC07-ADAF4D55B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92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FC2C-34BE-AD4D-6D5A-7B63AF41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A486A-63D3-C0EC-BA00-07CDB4A0D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BA48B-6647-0F15-E63F-74A21BD94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FCFEF-B41F-B996-BB0D-62C496B76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219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CE04-0617-061D-B5A3-3E49443E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22D7E-DAEC-9651-0BEC-A03BB69BE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B0E11-862B-B814-9833-B343774A0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5FA30-172D-E96B-06A0-9ADB6496E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20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AB45E-AED1-020B-B117-03600ECE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1EB73-897C-C3C0-9979-318355B90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90977-DD75-BBCC-4E17-4DE76F4E8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23A15-E251-3B38-342F-961565D0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376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03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7" r:id="rId3"/>
    <p:sldLayoutId id="2147483668" r:id="rId4"/>
    <p:sldLayoutId id="214748366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hyperlink" Target="https://github.com/onkarlondhe1139/OnkarLondhe-Task3-PowerBI-Dashboard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6" Type="http://schemas.openxmlformats.org/officeDocument/2006/relationships/hyperlink" Target="https://github.com/onkarlondhe1139/OnkarLondhe-Task-2-EDA-BI" TargetMode="External"/><Relationship Id="rId5" Type="http://schemas.openxmlformats.org/officeDocument/2006/relationships/hyperlink" Target="https://github.com/onkarlondhe1139/OnkarLondhe-Task1-DataWrangling" TargetMode="External"/><Relationship Id="rId4" Type="http://schemas.openxmlformats.org/officeDocument/2006/relationships/hyperlink" Target="https://github.com/onkarlondhe1139/OnkarLondhe-Task4-Hypothesis-Test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7604-B7B3-B575-0F51-7C85FCCC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B2A1FB-6E01-C6CD-D9D9-EB26EADFDF4A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6DE37D-7C9C-8650-6D35-8A678974FA94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7A771-2413-7BF8-CDDC-CCAFAFBB08F9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DA0BD6-B5E7-DED4-EB27-3C2DCDE71C88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10FB31-87D2-3A00-4627-593C4772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748C34-B2AD-9DFB-2C86-C8BD7983C3B7}"/>
              </a:ext>
            </a:extLst>
          </p:cNvPr>
          <p:cNvSpPr>
            <a:spLocks noGrp="1"/>
          </p:cNvSpPr>
          <p:nvPr/>
        </p:nvSpPr>
        <p:spPr>
          <a:xfrm>
            <a:off x="549729" y="506187"/>
            <a:ext cx="4714422" cy="38263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/>
              <a:t>Data Analytics Internship</a:t>
            </a:r>
          </a:p>
          <a:p>
            <a:pPr algn="l"/>
            <a:r>
              <a:rPr lang="en-US" sz="1400" b="1" dirty="0">
                <a:latin typeface="Aptos"/>
              </a:rPr>
              <a:t>At </a:t>
            </a:r>
            <a:r>
              <a:rPr lang="en-IN" sz="1400" b="1" dirty="0" err="1"/>
              <a:t>ApexPlanet</a:t>
            </a:r>
            <a:r>
              <a:rPr lang="en-IN" sz="1400" b="1" dirty="0"/>
              <a:t> Software </a:t>
            </a:r>
            <a:r>
              <a:rPr lang="en-IN" sz="1400" b="1" dirty="0" err="1"/>
              <a:t>Pvt.</a:t>
            </a:r>
            <a:r>
              <a:rPr lang="en-IN" sz="1400" b="1" dirty="0"/>
              <a:t> Ltd. </a:t>
            </a:r>
          </a:p>
          <a:p>
            <a:pPr algn="l"/>
            <a:br>
              <a:rPr lang="en-US" sz="5100" b="1" dirty="0"/>
            </a:br>
            <a:r>
              <a:rPr lang="en-US" sz="2600" b="1" cap="all" dirty="0"/>
              <a:t>Task 4 :</a:t>
            </a:r>
          </a:p>
          <a:p>
            <a:pPr algn="l"/>
            <a:r>
              <a:rPr lang="en-US" altLang="en-US" sz="3200" b="1" dirty="0">
                <a:latin typeface="+mn-lt"/>
                <a:cs typeface="Segoe UI Semibold" panose="020B0702040204020203" pitchFamily="34" charset="0"/>
              </a:rPr>
              <a:t>Data Storytelling &amp; Statistical Validation</a:t>
            </a:r>
            <a:endParaRPr lang="en-US" altLang="en-US" sz="3200" dirty="0">
              <a:latin typeface="+mn-lt"/>
              <a:cs typeface="Segoe UI Semibold" panose="020B0702040204020203" pitchFamily="34" charset="0"/>
            </a:endParaRPr>
          </a:p>
          <a:p>
            <a:pPr algn="l"/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6875C5E-B79B-9414-300C-F7CF69AAF880}"/>
              </a:ext>
            </a:extLst>
          </p:cNvPr>
          <p:cNvSpPr>
            <a:spLocks noGrp="1"/>
          </p:cNvSpPr>
          <p:nvPr/>
        </p:nvSpPr>
        <p:spPr>
          <a:xfrm>
            <a:off x="337457" y="3739889"/>
            <a:ext cx="5049141" cy="22907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800" b="1" cap="all" dirty="0"/>
              <a:t>Presented By</a:t>
            </a:r>
            <a:endParaRPr lang="en-US" sz="1800" cap="all" dirty="0"/>
          </a:p>
          <a:p>
            <a:pPr algn="l">
              <a:spcAft>
                <a:spcPts val="600"/>
              </a:spcAft>
            </a:pPr>
            <a:r>
              <a:rPr lang="en-US" sz="1600" b="1" dirty="0"/>
              <a:t>Student Name</a:t>
            </a:r>
            <a:r>
              <a:rPr lang="en-US" sz="1600" b="1" cap="all" dirty="0"/>
              <a:t>: </a:t>
            </a:r>
            <a:r>
              <a:rPr lang="en-US" sz="1600" b="1" dirty="0"/>
              <a:t>Onkar Abhiman Londhe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dirty="0"/>
              <a:t>College Name</a:t>
            </a:r>
            <a:r>
              <a:rPr lang="en-US" sz="1600" b="1" cap="all" dirty="0"/>
              <a:t>: </a:t>
            </a:r>
            <a:r>
              <a:rPr lang="en-US" sz="1600" b="1" cap="all" dirty="0" err="1"/>
              <a:t>S.b</a:t>
            </a:r>
            <a:r>
              <a:rPr lang="en-US" sz="1600" b="1" cap="all" dirty="0"/>
              <a:t> </a:t>
            </a:r>
            <a:r>
              <a:rPr lang="en-US" sz="1600" b="1" dirty="0"/>
              <a:t>Patil College Of </a:t>
            </a:r>
            <a:r>
              <a:rPr lang="en-IN" sz="1600" b="1" dirty="0"/>
              <a:t>Engineering Pune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dirty="0"/>
              <a:t>Department: Computer</a:t>
            </a:r>
          </a:p>
          <a:p>
            <a:pPr algn="l">
              <a:spcAft>
                <a:spcPts val="600"/>
              </a:spcAft>
            </a:pPr>
            <a:r>
              <a:rPr lang="en-US" sz="1600" b="1" dirty="0"/>
              <a:t>Email ID</a:t>
            </a:r>
            <a:r>
              <a:rPr lang="en-US" sz="1600" b="1" cap="all" dirty="0"/>
              <a:t>: </a:t>
            </a:r>
            <a:r>
              <a:rPr lang="en-US" sz="1600" b="1" dirty="0"/>
              <a:t>onkarlondhe1139@gmail.com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2C6DE9-24B4-E3E3-5D73-00898609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EFF028-7CC0-B98E-65F8-C26BD98F3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3787" y="963029"/>
            <a:ext cx="4203189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964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48B5C-4DEE-2856-6DC9-76124D72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8B7929C-48AD-0F02-CB41-7F6A1EC78D57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36DC32-8864-0D23-5156-48B6B23FA261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C99068-4004-E6A1-B3C6-6CDF1A117874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0981FD-D412-EB48-23FF-7271ABA18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00E14-01C6-1A35-2DD1-479B1BB5B91A}"/>
              </a:ext>
            </a:extLst>
          </p:cNvPr>
          <p:cNvSpPr txBox="1"/>
          <p:nvPr/>
        </p:nvSpPr>
        <p:spPr>
          <a:xfrm>
            <a:off x="825731" y="1368828"/>
            <a:ext cx="1088413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Data Collection &amp; Data Cleaning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Exploratory Data Analysis (EDA)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Data Visualization &amp; Dashboard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Data Storytelling &amp; Statistical Validation</a:t>
            </a:r>
          </a:p>
          <a:p>
            <a:pPr marL="0" indent="0">
              <a:buNone/>
            </a:pPr>
            <a:endParaRPr lang="en-IN" sz="32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510FB6-ECB1-4D4B-1556-D7C466EFC1E1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29F67-C034-CF44-67A0-DBB8F21706F4}"/>
              </a:ext>
            </a:extLst>
          </p:cNvPr>
          <p:cNvSpPr txBox="1"/>
          <p:nvPr/>
        </p:nvSpPr>
        <p:spPr>
          <a:xfrm>
            <a:off x="744088" y="217470"/>
            <a:ext cx="2001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IN" sz="2400" b="1" cap="all" dirty="0">
                <a:latin typeface="Arial"/>
                <a:cs typeface="Arial"/>
              </a:rPr>
              <a:t> </a:t>
            </a:r>
            <a:endParaRPr lang="en-I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541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DC46-9008-F162-C0C7-B9708925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69CED1-5D32-5040-5E38-F6672FDD07EA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396E7F-5A2F-320C-79DE-41FC82AAB9DF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C2795-97EF-54A7-BF31-0FB0829BDFA0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57AB8-B000-3A3D-64FA-210F1009E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AAFD6-D84E-9871-93D8-DC47469380AE}"/>
              </a:ext>
            </a:extLst>
          </p:cNvPr>
          <p:cNvSpPr txBox="1"/>
          <p:nvPr/>
        </p:nvSpPr>
        <p:spPr>
          <a:xfrm>
            <a:off x="825731" y="1341119"/>
            <a:ext cx="113662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dataset related to business operations (e.g., product sales dataset).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multiple attributes such as product details, price, sales metrics and timestamps.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Prepare structured data for analysis.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preprocessing to improve data quality: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fields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outliers using statistical techniques (IQR)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 cleaned dataset for analysis.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22EC8F-7EF4-010A-D1E1-D06EB07B3B86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26805A-436A-7BA2-C2D9-4AB231268BF6}"/>
              </a:ext>
            </a:extLst>
          </p:cNvPr>
          <p:cNvSpPr txBox="1"/>
          <p:nvPr/>
        </p:nvSpPr>
        <p:spPr>
          <a:xfrm>
            <a:off x="744088" y="217470"/>
            <a:ext cx="6565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Data Collection &amp; Data Cleaning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275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7C4C-787B-235A-1597-931BE062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3D1AF75-B268-168A-6986-94DFB0777B0A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4A960A-C521-6EF9-BC61-9812E4346155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978ADE-1606-BEA7-7786-8E8E7ECF6A11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E43D77-414D-9941-DA31-8AB485292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1CAFAC-1C05-042C-B357-B884F734D234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9A3BF7-E84C-FCCE-CBD3-66D34D673759}"/>
              </a:ext>
            </a:extLst>
          </p:cNvPr>
          <p:cNvSpPr txBox="1"/>
          <p:nvPr/>
        </p:nvSpPr>
        <p:spPr>
          <a:xfrm>
            <a:off x="744087" y="217470"/>
            <a:ext cx="71208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Data Collection &amp; Data Cleaning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BFC08-1233-8839-E61C-79AE089BB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87" y="1048467"/>
            <a:ext cx="3400702" cy="2550527"/>
          </a:xfrm>
          <a:prstGeom prst="rect">
            <a:avLst/>
          </a:prstGeom>
          <a:ln>
            <a:solidFill>
              <a:srgbClr val="88BFEC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770091-3F6E-96D5-C8FC-B7F03D955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86" y="3765186"/>
            <a:ext cx="3400703" cy="2550527"/>
          </a:xfrm>
          <a:prstGeom prst="rect">
            <a:avLst/>
          </a:prstGeom>
          <a:ln>
            <a:solidFill>
              <a:srgbClr val="88BFE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214A39-4A49-576C-9009-9A51BCA15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299" y="1048467"/>
            <a:ext cx="3400702" cy="2550527"/>
          </a:xfrm>
          <a:prstGeom prst="rect">
            <a:avLst/>
          </a:prstGeom>
          <a:ln>
            <a:solidFill>
              <a:srgbClr val="88BFEC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6A744D-D3D6-2DA8-DDA7-81CB9515B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299" y="3765185"/>
            <a:ext cx="3400702" cy="2550527"/>
          </a:xfrm>
          <a:prstGeom prst="rect">
            <a:avLst/>
          </a:prstGeom>
          <a:ln>
            <a:solidFill>
              <a:srgbClr val="88BFEC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696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C433F-2A1C-51CF-A7CE-15F1679F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0DECAF0-CA15-0E8B-BE6B-FF563E5B9023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856E0D-4CBC-415D-0512-47CACB6CD71C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CDDEB6-75E9-5D50-79E2-B95F944946E5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CF54E-84EE-E8F8-E24D-F279853FA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696FC-3981-841C-243A-84CED3347072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168C15-7D2A-3220-B077-DF18D144C749}"/>
              </a:ext>
            </a:extLst>
          </p:cNvPr>
          <p:cNvSpPr txBox="1"/>
          <p:nvPr/>
        </p:nvSpPr>
        <p:spPr>
          <a:xfrm>
            <a:off x="744088" y="217470"/>
            <a:ext cx="6565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Exploratory Data Analysis (EDA)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96A5-82DD-08EA-1926-6DD047D22CB2}"/>
              </a:ext>
            </a:extLst>
          </p:cNvPr>
          <p:cNvSpPr txBox="1">
            <a:spLocks/>
          </p:cNvSpPr>
          <p:nvPr/>
        </p:nvSpPr>
        <p:spPr>
          <a:xfrm>
            <a:off x="952500" y="1301552"/>
            <a:ext cx="7709140" cy="17573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dataset to understand patterns and relationships: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Price distribution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Sales volume trends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Product level performance</a:t>
            </a:r>
          </a:p>
          <a:p>
            <a:pPr lvl="1"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high-demand items.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D7F3F-BCBC-46D4-1FB4-CD068A7EAD4D}"/>
              </a:ext>
            </a:extLst>
          </p:cNvPr>
          <p:cNvSpPr txBox="1"/>
          <p:nvPr/>
        </p:nvSpPr>
        <p:spPr>
          <a:xfrm>
            <a:off x="526595" y="3225065"/>
            <a:ext cx="966243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Key Insights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insights discovered during analysis: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Some price ranges generate higher sales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Certain products dominate overall demand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Sales distribution shows patterns useful for business decisions.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866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21A7-5E77-87A9-D7CF-6EA09288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C491324-4460-511F-B048-62319D0921B4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C9FEC9-46D3-DDE5-C425-9D58270AD1BE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9B6792-2174-9B97-3B2E-2AE8422C0310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9D86A1-2F98-923C-83F4-49C73DDD5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F830B2-EED3-B00C-37A2-EAF2308A6FE7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6DD916-353E-BC90-BAED-37206A710A3B}"/>
              </a:ext>
            </a:extLst>
          </p:cNvPr>
          <p:cNvSpPr txBox="1"/>
          <p:nvPr/>
        </p:nvSpPr>
        <p:spPr>
          <a:xfrm>
            <a:off x="744087" y="217470"/>
            <a:ext cx="71208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Exploratory Data Analysis (EDA)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D888-D903-3933-8380-F9ED60FF2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7" y="1022379"/>
            <a:ext cx="4103916" cy="2735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6043F-120A-342D-7742-1AFB9C90A6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72" y="1005737"/>
            <a:ext cx="4128879" cy="2752586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AA28DB-669F-821F-A113-B9670BD962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7" y="3840813"/>
            <a:ext cx="4103916" cy="26053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BACB81-D0B7-F05F-28CE-8C467991B3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73" y="3840813"/>
            <a:ext cx="4128878" cy="25908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344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ADE6-71A4-8229-79B5-32F5A0D23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91A1A62-81AD-B4E1-E156-3539B042E10E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E0347F-079B-6784-7CBD-7B6C693659BE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00E534-E2D4-FE8C-B8F5-4F778F334B23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CA0D8-C8B5-95CD-99AA-5B53EF9B6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3D37B-C636-8368-3257-03D941207004}"/>
              </a:ext>
            </a:extLst>
          </p:cNvPr>
          <p:cNvSpPr txBox="1"/>
          <p:nvPr/>
        </p:nvSpPr>
        <p:spPr>
          <a:xfrm>
            <a:off x="825731" y="1341119"/>
            <a:ext cx="7670569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interactive visualizations to communicate insights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Power BI / visualization tools.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included: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Sales trends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Product performance charts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Price vs demand analysis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Category comparisons.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Benefits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enables: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Real-time insight exploration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Better business decision making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Easy identification of trends and patterns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Clear communication of analytical results.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4F548E-670C-F9C8-823F-8ECD4ACA0546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1139B-B3EB-8CBA-04F4-1C46BF644ABB}"/>
              </a:ext>
            </a:extLst>
          </p:cNvPr>
          <p:cNvSpPr txBox="1"/>
          <p:nvPr/>
        </p:nvSpPr>
        <p:spPr>
          <a:xfrm>
            <a:off x="744088" y="217470"/>
            <a:ext cx="656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– Data Visualization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519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9FEA-556F-F89D-AA9B-6D3A45E5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3D8FBDD-6AF1-564B-AD53-D13B3BB9C6DC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55CB6C-06D0-20EA-BBA0-4A4C884979A2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CE55A5-1C83-FD9D-59A1-36BAB5ECCD21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D528DF-3583-232A-D142-B2673D4C4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4C9DD-8BAA-D0CC-9C9E-AEA6F8B3D4A3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14074-7DEB-43D3-CAFC-B44CDD99828D}"/>
              </a:ext>
            </a:extLst>
          </p:cNvPr>
          <p:cNvSpPr txBox="1"/>
          <p:nvPr/>
        </p:nvSpPr>
        <p:spPr>
          <a:xfrm>
            <a:off x="749530" y="217470"/>
            <a:ext cx="9118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– Swiggy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Instamart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Dashboard Using Power BI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DD432-773F-0C1D-7A60-08C586AC3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02" y="877356"/>
            <a:ext cx="9790570" cy="555985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210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6A9C1-36E3-C9C6-2281-35CA0345D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3F70824-A946-010B-F4A8-CF8657568190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601409-620A-1F3D-58BC-25D8B34024ED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8F5FE9-6FE6-391C-A908-55BFD4097C67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C72B79-6E84-18A9-DFC3-F0DE318B4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5FBE3-92DB-0115-A2E7-00F89B9F1D70}"/>
              </a:ext>
            </a:extLst>
          </p:cNvPr>
          <p:cNvSpPr txBox="1"/>
          <p:nvPr/>
        </p:nvSpPr>
        <p:spPr>
          <a:xfrm>
            <a:off x="744088" y="896605"/>
            <a:ext cx="113662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synthesize all analysis into a compelling business narrative and use basic statistical methods to add rigor and validate key findings.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Craft the Data Story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findings from Tasks 1–3 into a cohesive narrative for business stakeholders.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story should include: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Clear objective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Analytical insights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conclusions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Recommended actions.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Develop the Final Presentation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professional presentation deck that is: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Visual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Concise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Insight driven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Focused on business impact.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Hypothesis Testing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 a testable business hypothesis.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 change in strategy or design leads to a statistically significant improvement in performance metrics.'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DAF012-AF8B-2389-A1F0-92A83600A299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FB3F7-4B21-A305-B30A-7C8566CD76DA}"/>
              </a:ext>
            </a:extLst>
          </p:cNvPr>
          <p:cNvSpPr txBox="1"/>
          <p:nvPr/>
        </p:nvSpPr>
        <p:spPr>
          <a:xfrm>
            <a:off x="744088" y="217470"/>
            <a:ext cx="656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– Objective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743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ACDE-5F3B-15E6-3428-DE7AE5A6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4FAE3A8-F399-C214-D388-800DACE1C6A0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709CF7-F084-FAA4-561B-43CC2FC6D0B7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1E5B0-8C48-7D40-FE32-E0574D2B5749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98591B-61C0-474D-C0BF-52C9CDA4C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D7CFE-E622-E95F-512B-ED6678C77B5E}"/>
              </a:ext>
            </a:extLst>
          </p:cNvPr>
          <p:cNvSpPr txBox="1"/>
          <p:nvPr/>
        </p:nvSpPr>
        <p:spPr>
          <a:xfrm>
            <a:off x="825731" y="1341119"/>
            <a:ext cx="113662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appropriate statistical tests such as: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T-test (A/B testing)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Chi-Squared test for proportions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Basic correlation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tests validate whether patterns observed in the data are statistically significant.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Results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statistical outputs including: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P-value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Confidence intervals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Test statistics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determine whether to accept or reject the hypothesis and derive business conclusions.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50AEE-DAE6-254C-F856-17CC45F65758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0314F-4BDC-1F53-94EF-19CFC1838D96}"/>
              </a:ext>
            </a:extLst>
          </p:cNvPr>
          <p:cNvSpPr txBox="1"/>
          <p:nvPr/>
        </p:nvSpPr>
        <p:spPr>
          <a:xfrm>
            <a:off x="744088" y="217470"/>
            <a:ext cx="656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 Methods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05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C583-6337-16FB-E322-1D0E792A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2FF1CC0-E7C5-40AA-C8EA-D42C944819C7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738D25-965D-7CCF-5507-709BC0480982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3C25EC-FB31-97A9-1350-2337BC171C57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791FD-C0D7-3260-3AAF-D192644EB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A8AB5-126E-7AF8-D0A0-3D31506291DB}"/>
              </a:ext>
            </a:extLst>
          </p:cNvPr>
          <p:cNvSpPr txBox="1"/>
          <p:nvPr/>
        </p:nvSpPr>
        <p:spPr>
          <a:xfrm>
            <a:off x="825731" y="876481"/>
            <a:ext cx="1136626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 was used to confirm analytical findings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 (alpha) = 0.05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 1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Price vs Sales Volume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H0: Price does not affect sales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 Price affects sales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Correlation Test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 2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Discount vs Sales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H0: Discount does not increase sales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 Discount increases sales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T-Test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 3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Time vs Sales Volume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H0: Sales are equal across time periods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 Sales vary across time periods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ANOVA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2BAD1-5253-4D49-162A-ECA1DE9615CD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03708-764F-80C7-AF39-D5FF4B307C1A}"/>
              </a:ext>
            </a:extLst>
          </p:cNvPr>
          <p:cNvSpPr txBox="1"/>
          <p:nvPr/>
        </p:nvSpPr>
        <p:spPr>
          <a:xfrm>
            <a:off x="744088" y="217470"/>
            <a:ext cx="656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61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6021-9F17-263B-DE6D-286DEF9A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DCA424-0F98-D946-89F8-E8479891614B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586EDE-8382-2B09-7344-393AC6B9FEB1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2A59EC-5168-C18A-FBA8-9779427CA2D7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A1B018-AF42-7A30-5E0C-6CB4E40E7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8A391-9181-91FE-7663-230C24EF9EDB}"/>
              </a:ext>
            </a:extLst>
          </p:cNvPr>
          <p:cNvSpPr txBox="1"/>
          <p:nvPr/>
        </p:nvSpPr>
        <p:spPr>
          <a:xfrm>
            <a:off x="825731" y="1362890"/>
            <a:ext cx="94449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https://github.com/onkarlondhe1139/OnkarLondhe-Task4-Hypothesis-Testing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https://github.com/onkarlondhe1139/OnkarLondhe-Task1-DataWrangling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https://github.com/onkarlondhe1139/OnkarLondhe-Task-2-EDA-BI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https://github.com/onkarlondhe1139/OnkarLondhe-Task3-PowerBI-Dashboard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F1D00F-3376-F414-B401-657C61C48E04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F8995-E22B-5CFB-44F4-6A57D0F7BF69}"/>
              </a:ext>
            </a:extLst>
          </p:cNvPr>
          <p:cNvSpPr txBox="1"/>
          <p:nvPr/>
        </p:nvSpPr>
        <p:spPr>
          <a:xfrm>
            <a:off x="744088" y="217470"/>
            <a:ext cx="656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4109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E3CF-47FC-BCEF-6A23-234881CB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E16120C-E03A-1214-F756-ACEFB1A4A1E1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EF31E8-BB8B-53A5-A0E4-1FA736859DFE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1BEA91-794E-699F-231B-9546A0127BB0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B342BD-3578-C8FB-090C-D752D2056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982EB-8133-266A-E819-125666F3BFF4}"/>
              </a:ext>
            </a:extLst>
          </p:cNvPr>
          <p:cNvSpPr txBox="1"/>
          <p:nvPr/>
        </p:nvSpPr>
        <p:spPr>
          <a:xfrm>
            <a:off x="825730" y="1341119"/>
            <a:ext cx="1026136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data analysis, visualization, storytelling, and statistical validation enables organizations to make informed, data‑driven decisions and clearly communicate insights to stakeholders.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A4BF7B-CFBB-80B7-E7CD-CEDD3242F1EB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B64598-2374-9EBD-3686-41BB1CA37983}"/>
              </a:ext>
            </a:extLst>
          </p:cNvPr>
          <p:cNvSpPr txBox="1"/>
          <p:nvPr/>
        </p:nvSpPr>
        <p:spPr>
          <a:xfrm>
            <a:off x="744088" y="217470"/>
            <a:ext cx="6565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820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5DC3-4F71-D002-98BB-46C7DB8C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C5D997A-7439-C7C0-1F83-CD2CA76C528D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5DA4C0-5408-8E5D-970B-C6DA17E1C70E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F03773-F5E0-DA19-53AF-F439A2FEF7BC}"/>
              </a:ext>
            </a:extLst>
          </p:cNvPr>
          <p:cNvSpPr/>
          <p:nvPr/>
        </p:nvSpPr>
        <p:spPr>
          <a:xfrm>
            <a:off x="-32657" y="6509659"/>
            <a:ext cx="12224656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7B8772-D83C-AE48-80C1-26AA68613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4C5B9-51A1-A9D3-873C-06144A58C3FB}"/>
              </a:ext>
            </a:extLst>
          </p:cNvPr>
          <p:cNvSpPr txBox="1"/>
          <p:nvPr/>
        </p:nvSpPr>
        <p:spPr>
          <a:xfrm>
            <a:off x="527165" y="3257173"/>
            <a:ext cx="1136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D231E8-E8B7-6F5F-5FF8-91EFB16B42E2}"/>
              </a:ext>
            </a:extLst>
          </p:cNvPr>
          <p:cNvSpPr/>
          <p:nvPr/>
        </p:nvSpPr>
        <p:spPr>
          <a:xfrm>
            <a:off x="228601" y="-635"/>
            <a:ext cx="11963400" cy="805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718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703</Words>
  <Application>Microsoft Office PowerPoint</Application>
  <PresentationFormat>Widescreen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1_Office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Onkar Londhe</cp:lastModifiedBy>
  <cp:revision>105</cp:revision>
  <dcterms:created xsi:type="dcterms:W3CDTF">2024-05-21T11:55:07Z</dcterms:created>
  <dcterms:modified xsi:type="dcterms:W3CDTF">2026-03-13T19:07:18Z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